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74" r:id="rId2"/>
    <p:sldId id="375" r:id="rId3"/>
    <p:sldId id="257" r:id="rId4"/>
    <p:sldId id="376" r:id="rId5"/>
    <p:sldId id="377" r:id="rId6"/>
    <p:sldId id="378" r:id="rId7"/>
    <p:sldId id="379" r:id="rId8"/>
    <p:sldId id="380" r:id="rId9"/>
    <p:sldId id="382" r:id="rId10"/>
    <p:sldId id="3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91" autoAdjust="0"/>
    <p:restoredTop sz="94660"/>
  </p:normalViewPr>
  <p:slideViewPr>
    <p:cSldViewPr snapToGrid="0">
      <p:cViewPr varScale="1">
        <p:scale>
          <a:sx n="54" d="100"/>
          <a:sy n="54" d="100"/>
        </p:scale>
        <p:origin x="73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3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kmalik01/RVCollegeofEngineering_HackNova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778637" y="1160331"/>
            <a:ext cx="659390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&lt;RV College of Engineering&gt;_&lt;</a:t>
            </a:r>
            <a:r>
              <a:rPr lang="en-US" sz="3600" b="1" dirty="0" err="1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HackNova</a:t>
            </a:r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&gt;</a:t>
            </a:r>
          </a:p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</a:t>
            </a:r>
            <a:r>
              <a:rPr lang="en-GB" sz="3600" dirty="0"/>
              <a:t>Bridging the gap between student ambition and career opportunities through proactive AI orchestration.</a:t>
            </a:r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&gt;</a:t>
            </a:r>
          </a:p>
          <a:p>
            <a:pPr algn="ctr"/>
            <a:endParaRPr lang="en-US" sz="36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&lt;Monisha M</a:t>
            </a:r>
            <a:br>
              <a:rPr lang="en-US" sz="36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r>
              <a:rPr lang="en-US" sz="36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Mehak Malik</a:t>
            </a:r>
            <a:br>
              <a:rPr lang="en-US" sz="36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r>
              <a:rPr lang="en-US" sz="36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Pocha Om Shivani&gt;</a:t>
            </a:r>
            <a:br>
              <a:rPr lang="en-US" sz="36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36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C45DF-9CEF-DAC4-BB06-B3B115B89F9B}"/>
              </a:ext>
            </a:extLst>
          </p:cNvPr>
          <p:cNvSpPr txBox="1"/>
          <p:nvPr/>
        </p:nvSpPr>
        <p:spPr>
          <a:xfrm>
            <a:off x="609599" y="1791198"/>
            <a:ext cx="1124174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200" b="1" dirty="0"/>
              <a:t>Selected Theme:</a:t>
            </a:r>
            <a:r>
              <a:rPr lang="en-GB" sz="3200" dirty="0"/>
              <a:t> Theme 3: Productivity Platforms </a:t>
            </a:r>
          </a:p>
          <a:p>
            <a:pPr>
              <a:buNone/>
            </a:pPr>
            <a:r>
              <a:rPr lang="en-GB" sz="3200" b="1" dirty="0"/>
              <a:t>The Problem:</a:t>
            </a:r>
            <a:r>
              <a:rPr lang="en-GB" sz="3200" dirty="0"/>
              <a:t> Fragmented job boards and high-noise social platforms (Reddit/LinkedIn) make finding niche AI/ML internships a manual, multi-hour daily task for students. </a:t>
            </a:r>
          </a:p>
          <a:p>
            <a:pPr>
              <a:buNone/>
            </a:pPr>
            <a:r>
              <a:rPr lang="en-GB" sz="3200" b="1" dirty="0"/>
              <a:t>Persona:</a:t>
            </a:r>
            <a:r>
              <a:rPr lang="en-GB" sz="3200" dirty="0"/>
              <a:t> Specialized engineering students looking for high-signal, early-career opportunities. </a:t>
            </a:r>
          </a:p>
          <a:p>
            <a:pPr>
              <a:buNone/>
            </a:pPr>
            <a:r>
              <a:rPr lang="en-GB" sz="3200" b="1" dirty="0"/>
              <a:t>Importance:</a:t>
            </a:r>
            <a:r>
              <a:rPr lang="en-GB" sz="3200" dirty="0"/>
              <a:t> Early identification of these roles is critical in a competitive market; missing a 24-hour window often means missing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8419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Existing Solutions:</a:t>
            </a:r>
            <a:r>
              <a:rPr lang="en-GB" sz="3200" dirty="0"/>
              <a:t> Manual searches, generic email alerts, or reactive chatbots. </a:t>
            </a:r>
          </a:p>
          <a:p>
            <a:r>
              <a:rPr lang="en-GB" sz="3200" b="1" dirty="0"/>
              <a:t>What’s Missing:</a:t>
            </a:r>
            <a:r>
              <a:rPr lang="en-GB" sz="3200" dirty="0"/>
              <a:t> These solutions are "reactive"—they require the user to initiate a search or check an inbox. Most are high-noise and lack intelligent summarization. </a:t>
            </a:r>
          </a:p>
          <a:p>
            <a:r>
              <a:rPr lang="en-GB" sz="3200" b="1" dirty="0"/>
              <a:t>Opportunity:</a:t>
            </a:r>
            <a:r>
              <a:rPr lang="en-GB" sz="3200" dirty="0"/>
              <a:t> Using a "proactive" background daemon that works while the student is asleep to deliver a filtered, high-value digest by morning. </a:t>
            </a:r>
          </a:p>
          <a:p>
            <a:endParaRPr lang="en-IN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D801BB-6307-7993-F0C7-2B68F471BAEF}"/>
              </a:ext>
            </a:extLst>
          </p:cNvPr>
          <p:cNvSpPr txBox="1"/>
          <p:nvPr/>
        </p:nvSpPr>
        <p:spPr>
          <a:xfrm>
            <a:off x="609600" y="1395928"/>
            <a:ext cx="1097279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/>
              <a:t>What we Built:</a:t>
            </a:r>
            <a:r>
              <a:rPr lang="en-GB" sz="2800" dirty="0"/>
              <a:t> </a:t>
            </a:r>
            <a:r>
              <a:rPr lang="en-GB" sz="2800" dirty="0" err="1"/>
              <a:t>OpportunityAgent</a:t>
            </a:r>
            <a:r>
              <a:rPr lang="en-GB" sz="2800" dirty="0"/>
              <a:t> – An autonomous discovery engine using the </a:t>
            </a:r>
            <a:r>
              <a:rPr lang="en-GB" sz="2800" dirty="0" err="1"/>
              <a:t>OpenClaw</a:t>
            </a:r>
            <a:r>
              <a:rPr lang="en-GB" sz="2800" dirty="0"/>
              <a:t> framework. </a:t>
            </a:r>
          </a:p>
          <a:p>
            <a:pPr>
              <a:buNone/>
            </a:pPr>
            <a:r>
              <a:rPr lang="en-GB" sz="2800" b="1" dirty="0"/>
              <a:t>Core Idea:</a:t>
            </a:r>
            <a:r>
              <a:rPr lang="en-GB" sz="2800" dirty="0"/>
              <a:t> Utilizing the </a:t>
            </a:r>
            <a:r>
              <a:rPr lang="en-GB" sz="2800" b="1" dirty="0"/>
              <a:t>Proactive Heartbeat</a:t>
            </a:r>
            <a:r>
              <a:rPr lang="en-GB" sz="2800" dirty="0"/>
              <a:t> feature to delegate the daily "toil" of internship hunting to an intelligent orchestrator. </a:t>
            </a:r>
          </a:p>
          <a:p>
            <a:pPr>
              <a:buNone/>
            </a:pPr>
            <a:r>
              <a:rPr lang="en-GB" sz="2800" b="1" dirty="0"/>
              <a:t>Key Features:</a:t>
            </a:r>
            <a:endParaRPr lang="en-GB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Autonomous Discovery:</a:t>
            </a:r>
            <a:r>
              <a:rPr lang="en-GB" sz="2800" dirty="0"/>
              <a:t> Background searches via </a:t>
            </a:r>
            <a:r>
              <a:rPr lang="en-GB" sz="2800" dirty="0">
                <a:latin typeface="Courier New" panose="02070309020205020404" pitchFamily="49" charset="0"/>
              </a:rPr>
              <a:t>HEARTBEAT.md</a:t>
            </a:r>
            <a:r>
              <a:rPr lang="en-GB" sz="2800" dirty="0"/>
              <a:t> scheduling.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Intelligent Summarization:</a:t>
            </a:r>
            <a:r>
              <a:rPr lang="en-GB" sz="2800" dirty="0"/>
              <a:t> </a:t>
            </a:r>
            <a:r>
              <a:rPr lang="en-GB" sz="2800" dirty="0" err="1"/>
              <a:t>Groq</a:t>
            </a:r>
            <a:r>
              <a:rPr lang="en-GB" sz="2800" dirty="0"/>
              <a:t>-powered Llama-3-8b for sub-5 second methodology extraction.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Privacy-First:</a:t>
            </a:r>
            <a:r>
              <a:rPr lang="en-GB" sz="2800" dirty="0"/>
              <a:t> Local configuration and orchestration on user hardware. </a:t>
            </a:r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8419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User Interaction:</a:t>
            </a:r>
            <a:r>
              <a:rPr lang="en-GB" sz="3200" dirty="0"/>
              <a:t> The user defines keywords in the HEARTBEAT.md file. </a:t>
            </a:r>
          </a:p>
          <a:p>
            <a:r>
              <a:rPr lang="en-GB" sz="3200" b="1" dirty="0"/>
              <a:t>The Flow:</a:t>
            </a:r>
            <a:endParaRPr lang="en-GB" sz="3200" dirty="0"/>
          </a:p>
          <a:p>
            <a:r>
              <a:rPr lang="en-GB" sz="3200" dirty="0"/>
              <a:t>Gateway initializes and connects to </a:t>
            </a:r>
            <a:r>
              <a:rPr lang="en-GB" sz="3200" dirty="0" err="1"/>
              <a:t>Groq</a:t>
            </a:r>
            <a:r>
              <a:rPr lang="en-GB" sz="3200" dirty="0"/>
              <a:t> API. </a:t>
            </a:r>
          </a:p>
          <a:p>
            <a:r>
              <a:rPr lang="en-GB" sz="3200" dirty="0"/>
              <a:t>Agent executes the Reddit-scraping skill. </a:t>
            </a:r>
          </a:p>
          <a:p>
            <a:r>
              <a:rPr lang="en-GB" sz="3200" dirty="0"/>
              <a:t>Llama-3 filters noise and produces a 5-item structured summary. </a:t>
            </a:r>
          </a:p>
          <a:p>
            <a:r>
              <a:rPr lang="en-GB" sz="3200" b="1" dirty="0"/>
              <a:t>Key Moment:</a:t>
            </a:r>
            <a:r>
              <a:rPr lang="en-GB" sz="3200" dirty="0"/>
              <a:t> The agent "noodling" through real-time web data and outputting a ready-to-use list in the terminal/Discord. 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84190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Tech Stack:</a:t>
            </a:r>
            <a:r>
              <a:rPr lang="en-IN" sz="3200" dirty="0"/>
              <a:t> TypeScript/Node.js, PowerShell CLI. </a:t>
            </a:r>
          </a:p>
          <a:p>
            <a:r>
              <a:rPr lang="en-IN" sz="3200" b="1" dirty="0"/>
              <a:t>AI Usage:</a:t>
            </a:r>
            <a:endParaRPr lang="en-IN" sz="3200" dirty="0"/>
          </a:p>
          <a:p>
            <a:r>
              <a:rPr lang="en-IN" sz="3200" b="1" dirty="0"/>
              <a:t>Model:</a:t>
            </a:r>
            <a:r>
              <a:rPr lang="en-IN" sz="3200" dirty="0"/>
              <a:t> Groq Llama-3-8b-8192 for lightning-fast inference. </a:t>
            </a:r>
          </a:p>
          <a:p>
            <a:r>
              <a:rPr lang="en-IN" sz="3200" b="1" dirty="0"/>
              <a:t>Framework:</a:t>
            </a:r>
            <a:r>
              <a:rPr lang="en-IN" sz="3200" dirty="0"/>
              <a:t> </a:t>
            </a:r>
            <a:r>
              <a:rPr lang="en-IN" sz="3200" dirty="0" err="1"/>
              <a:t>OpenClaw</a:t>
            </a:r>
            <a:r>
              <a:rPr lang="en-IN" sz="3200" dirty="0"/>
              <a:t> 2026.4.29 Pi Engine (Agent Loop). </a:t>
            </a:r>
          </a:p>
          <a:p>
            <a:r>
              <a:rPr lang="en-IN" sz="3200" b="1" dirty="0"/>
              <a:t>System Flow:</a:t>
            </a:r>
            <a:r>
              <a:rPr lang="en-IN" sz="3200" dirty="0"/>
              <a:t> [Communication Layer] ↔ [Gateway Control Plane] ↔ [Skill Execution Layer (Reddit Scraper)]. 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972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Real-Life Scenarios:</a:t>
            </a:r>
            <a:endParaRPr lang="en-GB" sz="3200" dirty="0"/>
          </a:p>
          <a:p>
            <a:r>
              <a:rPr lang="en-GB" sz="3200" b="1" dirty="0"/>
              <a:t>The Morning Digest:</a:t>
            </a:r>
            <a:r>
              <a:rPr lang="en-GB" sz="3200" dirty="0"/>
              <a:t> Wake up to a Discord message with the latest 5 ML internships. </a:t>
            </a:r>
          </a:p>
          <a:p>
            <a:r>
              <a:rPr lang="en-GB" sz="3200" b="1" dirty="0"/>
              <a:t>Research Tracker:</a:t>
            </a:r>
            <a:r>
              <a:rPr lang="en-GB" sz="3200" dirty="0"/>
              <a:t> Automated tracking of specific research papers on </a:t>
            </a:r>
            <a:r>
              <a:rPr lang="en-GB" sz="3200" dirty="0" err="1"/>
              <a:t>ArXiv</a:t>
            </a:r>
            <a:r>
              <a:rPr lang="en-GB" sz="3200" dirty="0"/>
              <a:t>. </a:t>
            </a:r>
          </a:p>
          <a:p>
            <a:r>
              <a:rPr lang="en-GB" sz="3200" b="1" dirty="0"/>
              <a:t>Scale Potential:</a:t>
            </a:r>
            <a:r>
              <a:rPr lang="en-GB" sz="3200" dirty="0"/>
              <a:t> Can be expanded to track hackathons, scholarships, or open-source project bounties. 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41159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Moat 1 (Proactive vs. Reactive):</a:t>
            </a:r>
            <a:r>
              <a:rPr lang="en-GB" sz="3200" dirty="0"/>
              <a:t> Unlike standard bots, this agent uses a heartbeat daemon to initiate tasks autonomously based on time/triggers. </a:t>
            </a:r>
          </a:p>
          <a:p>
            <a:r>
              <a:rPr lang="en-GB" sz="3200" b="1" dirty="0"/>
              <a:t>Moat 2 (Sovereignty):</a:t>
            </a:r>
            <a:r>
              <a:rPr lang="en-GB" sz="3200" dirty="0"/>
              <a:t> Fully inspectable local Markdown/YAML storage for memory, ensuring no vendor lock-in. 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B55E99-84C4-D982-356D-56E854C37CCB}"/>
              </a:ext>
            </a:extLst>
          </p:cNvPr>
          <p:cNvSpPr txBox="1"/>
          <p:nvPr/>
        </p:nvSpPr>
        <p:spPr>
          <a:xfrm>
            <a:off x="609599" y="1787703"/>
            <a:ext cx="1118795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200" b="1" dirty="0"/>
              <a:t>GitHub Repo:</a:t>
            </a:r>
            <a:r>
              <a:rPr lang="en-GB" sz="3200" dirty="0"/>
              <a:t> [</a:t>
            </a:r>
            <a:r>
              <a:rPr lang="en-IN" sz="3200" dirty="0">
                <a:hlinkClick r:id="rId3"/>
              </a:rPr>
              <a:t>mkmalik01/</a:t>
            </a:r>
            <a:r>
              <a:rPr lang="en-IN" sz="3200" dirty="0" err="1">
                <a:hlinkClick r:id="rId3"/>
              </a:rPr>
              <a:t>RVCollegeofEngineering_HackNova</a:t>
            </a:r>
            <a:r>
              <a:rPr lang="en-GB" sz="3200" dirty="0"/>
              <a:t>] </a:t>
            </a:r>
          </a:p>
          <a:p>
            <a:pPr>
              <a:buNone/>
            </a:pPr>
            <a:r>
              <a:rPr lang="en-GB" sz="3200" b="1" dirty="0"/>
              <a:t>Documentation:</a:t>
            </a:r>
            <a:r>
              <a:rPr lang="en-GB" sz="3200" dirty="0"/>
              <a:t> README includes setup, build, and run instructions for Windows PowerShell. </a:t>
            </a:r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37B31-9099-B2D8-D680-290E4A8D9DBC}"/>
              </a:ext>
            </a:extLst>
          </p:cNvPr>
          <p:cNvSpPr txBox="1"/>
          <p:nvPr/>
        </p:nvSpPr>
        <p:spPr>
          <a:xfrm>
            <a:off x="724348" y="870845"/>
            <a:ext cx="61049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/>
              <a:t>AI Disclosure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557F1C-1CA5-8E74-05A8-5A560BAEB233}"/>
              </a:ext>
            </a:extLst>
          </p:cNvPr>
          <p:cNvSpPr txBox="1"/>
          <p:nvPr/>
        </p:nvSpPr>
        <p:spPr>
          <a:xfrm>
            <a:off x="724348" y="1950745"/>
            <a:ext cx="1085805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Solution AI:</a:t>
            </a:r>
            <a:r>
              <a:rPr lang="en-IN" sz="3200" dirty="0"/>
              <a:t> Groq Llama-3-8b API for core reasoning. </a:t>
            </a:r>
          </a:p>
          <a:p>
            <a:pPr>
              <a:buNone/>
            </a:pPr>
            <a:r>
              <a:rPr lang="en-IN" sz="3200" b="1" dirty="0"/>
              <a:t>Artifact Preparation:</a:t>
            </a:r>
            <a:r>
              <a:rPr lang="en-IN" sz="3200" dirty="0"/>
              <a:t> Gemini was utilized for troubleshooting terminal UI glitches, Node.js event-loop analysis, and structuring PRISM presentation materials.</a:t>
            </a:r>
          </a:p>
        </p:txBody>
      </p:sp>
    </p:spTree>
    <p:extLst>
      <p:ext uri="{BB962C8B-B14F-4D97-AF65-F5344CB8AC3E}">
        <p14:creationId xmlns:p14="http://schemas.microsoft.com/office/powerpoint/2010/main" val="230823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580</Words>
  <Application>Microsoft Office PowerPoint</Application>
  <PresentationFormat>Widescreen</PresentationFormat>
  <Paragraphs>68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Berlin Sans FB Demi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Mehak Malik</cp:lastModifiedBy>
  <cp:revision>4</cp:revision>
  <dcterms:created xsi:type="dcterms:W3CDTF">2026-04-27T09:11:02Z</dcterms:created>
  <dcterms:modified xsi:type="dcterms:W3CDTF">2026-05-08T17:30:57Z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